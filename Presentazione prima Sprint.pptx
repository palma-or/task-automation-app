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Libre Franklin"/>
      <p:regular r:id="rId12"/>
      <p:bold r:id="rId13"/>
      <p:italic r:id="rId14"/>
      <p:boldItalic r:id="rId15"/>
    </p:embeddedFont>
    <p:embeddedFont>
      <p:font typeface="Franklin Gothic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/mx5w773OstIFrR7Fga47yrjd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ibreFranklin-bold.fntdata"/><Relationship Id="rId12" Type="http://schemas.openxmlformats.org/officeDocument/2006/relationships/font" Target="fonts/LibreFranklin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ibreFranklin-boldItalic.fntdata"/><Relationship Id="rId14" Type="http://schemas.openxmlformats.org/officeDocument/2006/relationships/font" Target="fonts/LibreFranklin-italic.fntdata"/><Relationship Id="rId17" Type="http://customschemas.google.com/relationships/presentationmetadata" Target="metadata"/><Relationship Id="rId16" Type="http://schemas.openxmlformats.org/officeDocument/2006/relationships/font" Target="fonts/FranklinGothic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">
  <p:cSld name="Titolo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" name="Google Shape;17;p9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" name="Google Shape;22;p9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dine del giorno">
  <p:cSld name="Ordine del giorno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5" name="Google Shape;25;p10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10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10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8" name="Google Shape;28;p10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9" name="Google Shape;29;p10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0" name="Google Shape;30;p10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" name="Google Shape;31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2" type="body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4" name="Google Shape;34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10"/>
          <p:cNvSpPr txBox="1"/>
          <p:nvPr>
            <p:ph idx="3" type="body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4" type="body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7" name="Google Shape;37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10"/>
          <p:cNvSpPr txBox="1"/>
          <p:nvPr>
            <p:ph idx="5" type="body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6" type="body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0" name="Google Shape;40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" name="Google Shape;41;p10"/>
          <p:cNvSpPr txBox="1"/>
          <p:nvPr>
            <p:ph idx="7" type="body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8" type="body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3" name="Google Shape;43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" name="Google Shape;44;p10"/>
          <p:cNvSpPr txBox="1"/>
          <p:nvPr>
            <p:ph idx="9" type="body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3" type="body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zione">
  <p:cSld name="Introduzion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1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51" name="Google Shape;51;p1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2" name="Google Shape;52;p1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3" name="Google Shape;53;p1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54" name="Google Shape;54;p11"/>
          <p:cNvSpPr/>
          <p:nvPr>
            <p:ph idx="2" type="pic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6" name="Google Shape;56;p11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zione">
  <p:cSld name="Citazione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b="0" i="0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20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"</a:t>
            </a:r>
            <a:endParaRPr/>
          </a:p>
        </p:txBody>
      </p:sp>
      <p:grpSp>
        <p:nvGrpSpPr>
          <p:cNvPr id="64" name="Google Shape;64;p12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65" name="Google Shape;65;p12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6" name="Google Shape;66;p12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7" name="Google Shape;67;p12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8" name="Google Shape;68;p12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9" name="Google Shape;69;p12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70" name="Google Shape;70;p12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71" name="Google Shape;71;p1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2" name="Google Shape;72;p1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3" name="Google Shape;73;p1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">
  <p:cSld name="Grafic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>
            <p:ph idx="2" type="chart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zie">
  <p:cSld name="Grazie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4" name="Google Shape;84;p14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14"/>
          <p:cNvSpPr/>
          <p:nvPr>
            <p:ph idx="3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86" name="Google Shape;86;p1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87" name="Google Shape;87;p1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usa">
  <p:cSld name="Pausa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/>
          <p:nvPr>
            <p:ph idx="2" type="pic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2" name="Google Shape;92;p15"/>
          <p:cNvSpPr txBox="1"/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b="1" i="0" sz="41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3" name="Google Shape;93;p15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4" name="Google Shape;94;p15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95" name="Google Shape;95;p1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a">
  <p:cSld name="Tabella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7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05" name="Google Shape;105;p1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08" name="Google Shape;108;p17"/>
          <p:cNvSpPr/>
          <p:nvPr>
            <p:ph idx="2" type="pic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0" name="Google Shape;110;p17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17"/>
          <p:cNvSpPr/>
          <p:nvPr>
            <p:ph idx="3" type="pic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4" type="body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5" type="body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6" type="body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7" type="body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8" type="body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9" type="body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idx="13" type="body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20" name="Google Shape;120;p17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1" name="Google Shape;121;p17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26" name="Google Shape;126;p17"/>
          <p:cNvSpPr/>
          <p:nvPr>
            <p:ph idx="14" type="pic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17"/>
          <p:cNvSpPr/>
          <p:nvPr>
            <p:ph idx="15" type="pic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7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quenza temporale ">
  <p:cSld name="Sequenza temporale 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18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18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8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8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18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body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body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4" type="body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5" type="body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6" type="body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idx="7" type="body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8" type="body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45" name="Google Shape;145;p18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cap="flat" cmpd="sng" w="1651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8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0" name="Google Shape;150;p1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">
  <p:cSld name="2 Col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9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55" name="Google Shape;155;p1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6" name="Google Shape;156;p1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58" name="Google Shape;158;p19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9" name="Google Shape;159;p1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19"/>
          <p:cNvSpPr txBox="1"/>
          <p:nvPr>
            <p:ph idx="2" type="body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19"/>
          <p:cNvSpPr txBox="1"/>
          <p:nvPr>
            <p:ph idx="3" type="body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body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4" name="Google Shape;164;p19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19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">
  <p:cSld name="3 col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0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70" name="Google Shape;170;p20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73" name="Google Shape;173;p20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4" name="Google Shape;174;p20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6" name="Google Shape;176;p20"/>
          <p:cNvSpPr txBox="1"/>
          <p:nvPr>
            <p:ph idx="2" type="body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3" type="body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8" name="Google Shape;178;p20"/>
          <p:cNvSpPr txBox="1"/>
          <p:nvPr>
            <p:ph idx="4" type="body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5" type="body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0" name="Google Shape;180;p20"/>
          <p:cNvSpPr txBox="1"/>
          <p:nvPr>
            <p:ph idx="6" type="body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81" name="Google Shape;181;p20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20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0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0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epilogo ">
  <p:cSld name="Riepilogo 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8" name="Google Shape;188;p21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90" name="Google Shape;190;p21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91" name="Google Shape;191;p2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94" name="Google Shape;194;p21"/>
          <p:cNvSpPr txBox="1"/>
          <p:nvPr>
            <p:ph idx="2" type="body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1"/>
          <p:cNvSpPr txBox="1"/>
          <p:nvPr>
            <p:ph idx="3" type="body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21"/>
          <p:cNvSpPr txBox="1"/>
          <p:nvPr>
            <p:ph idx="4" type="body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21"/>
          <p:cNvSpPr txBox="1"/>
          <p:nvPr>
            <p:ph idx="5" type="body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1"/>
          <p:cNvSpPr txBox="1"/>
          <p:nvPr>
            <p:ph idx="6" type="body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idx="7" type="body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1"/>
          <p:cNvSpPr txBox="1"/>
          <p:nvPr>
            <p:ph idx="8" type="body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9" type="body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21"/>
          <p:cNvSpPr txBox="1"/>
          <p:nvPr>
            <p:ph idx="13" type="body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idx="1" type="body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"/>
          <p:cNvSpPr txBox="1"/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it-IT"/>
              <a:t>Presentazione prima Sprint</a:t>
            </a:r>
            <a:endParaRPr/>
          </a:p>
        </p:txBody>
      </p:sp>
      <p:sp>
        <p:nvSpPr>
          <p:cNvPr id="212" name="Google Shape;212;p1"/>
          <p:cNvSpPr txBox="1"/>
          <p:nvPr>
            <p:ph idx="1" type="body"/>
          </p:nvPr>
        </p:nvSpPr>
        <p:spPr>
          <a:xfrm>
            <a:off x="6367055" y="4549553"/>
            <a:ext cx="5491570" cy="1877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>
                <a:latin typeface="Franklin Gothic"/>
                <a:ea typeface="Franklin Gothic"/>
                <a:cs typeface="Franklin Gothic"/>
                <a:sym typeface="Franklin Gothic"/>
              </a:rPr>
              <a:t>Gruppo 04</a:t>
            </a:r>
            <a:r>
              <a:rPr lang="it-IT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Lanzara Nicola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Orlando Palma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Pacifico Simone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CA655"/>
              </a:buClr>
              <a:buSzPts val="1800"/>
              <a:buNone/>
            </a:pPr>
            <a:r>
              <a:rPr b="0" i="0" lang="it-IT" sz="1800" u="none" strike="noStrike">
                <a:solidFill>
                  <a:srgbClr val="7CA65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Vitolo Miriam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it-IT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Presentazione</a:t>
            </a:r>
            <a:endParaRPr/>
          </a:p>
        </p:txBody>
      </p:sp>
      <p:sp>
        <p:nvSpPr>
          <p:cNvPr id="219" name="Google Shape;219;p2"/>
          <p:cNvSpPr txBox="1"/>
          <p:nvPr>
            <p:ph idx="2" type="body"/>
          </p:nvPr>
        </p:nvSpPr>
        <p:spPr>
          <a:xfrm>
            <a:off x="952500" y="2209800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01. Release</a:t>
            </a:r>
            <a:endParaRPr/>
          </a:p>
        </p:txBody>
      </p:sp>
      <p:sp>
        <p:nvSpPr>
          <p:cNvPr id="220" name="Google Shape;220;p2"/>
          <p:cNvSpPr txBox="1"/>
          <p:nvPr>
            <p:ph idx="1" type="body"/>
          </p:nvPr>
        </p:nvSpPr>
        <p:spPr>
          <a:xfrm>
            <a:off x="952500" y="2818295"/>
            <a:ext cx="2133600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Sguardo alla prima release del software</a:t>
            </a:r>
            <a:endParaRPr/>
          </a:p>
        </p:txBody>
      </p:sp>
      <p:sp>
        <p:nvSpPr>
          <p:cNvPr id="221" name="Google Shape;221;p2"/>
          <p:cNvSpPr txBox="1"/>
          <p:nvPr>
            <p:ph idx="4" type="body"/>
          </p:nvPr>
        </p:nvSpPr>
        <p:spPr>
          <a:xfrm>
            <a:off x="3663042" y="2209800"/>
            <a:ext cx="2128157" cy="54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02. Sprint e Product Backlog</a:t>
            </a:r>
            <a:endParaRPr/>
          </a:p>
        </p:txBody>
      </p:sp>
      <p:sp>
        <p:nvSpPr>
          <p:cNvPr id="222" name="Google Shape;222;p2"/>
          <p:cNvSpPr txBox="1"/>
          <p:nvPr>
            <p:ph idx="3" type="body"/>
          </p:nvPr>
        </p:nvSpPr>
        <p:spPr>
          <a:xfrm>
            <a:off x="3663042" y="2818295"/>
            <a:ext cx="2128157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User story pianificate per la sprint, completate e rimanenti</a:t>
            </a:r>
            <a:endParaRPr/>
          </a:p>
        </p:txBody>
      </p:sp>
      <p:sp>
        <p:nvSpPr>
          <p:cNvPr id="223" name="Google Shape;223;p2"/>
          <p:cNvSpPr txBox="1"/>
          <p:nvPr>
            <p:ph idx="6" type="body"/>
          </p:nvPr>
        </p:nvSpPr>
        <p:spPr>
          <a:xfrm>
            <a:off x="952500" y="4522803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03. Burndown chart</a:t>
            </a:r>
            <a:endParaRPr/>
          </a:p>
        </p:txBody>
      </p:sp>
      <p:sp>
        <p:nvSpPr>
          <p:cNvPr id="224" name="Google Shape;224;p2"/>
          <p:cNvSpPr txBox="1"/>
          <p:nvPr>
            <p:ph idx="5" type="body"/>
          </p:nvPr>
        </p:nvSpPr>
        <p:spPr>
          <a:xfrm>
            <a:off x="952500" y="5131298"/>
            <a:ext cx="2133600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Rappresentazione grafica dei progressi</a:t>
            </a:r>
            <a:endParaRPr/>
          </a:p>
        </p:txBody>
      </p:sp>
      <p:sp>
        <p:nvSpPr>
          <p:cNvPr id="225" name="Google Shape;225;p2"/>
          <p:cNvSpPr txBox="1"/>
          <p:nvPr>
            <p:ph idx="8" type="body"/>
          </p:nvPr>
        </p:nvSpPr>
        <p:spPr>
          <a:xfrm>
            <a:off x="3663042" y="4522803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04. Sprint review</a:t>
            </a:r>
            <a:endParaRPr/>
          </a:p>
        </p:txBody>
      </p:sp>
      <p:sp>
        <p:nvSpPr>
          <p:cNvPr id="226" name="Google Shape;226;p2"/>
          <p:cNvSpPr txBox="1"/>
          <p:nvPr>
            <p:ph idx="7" type="body"/>
          </p:nvPr>
        </p:nvSpPr>
        <p:spPr>
          <a:xfrm>
            <a:off x="3663042" y="5131298"/>
            <a:ext cx="2128157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Presentazione sintetica della sprint review</a:t>
            </a:r>
            <a:endParaRPr/>
          </a:p>
        </p:txBody>
      </p:sp>
      <p:sp>
        <p:nvSpPr>
          <p:cNvPr id="227" name="Google Shape;227;p2"/>
          <p:cNvSpPr txBox="1"/>
          <p:nvPr>
            <p:ph idx="13" type="body"/>
          </p:nvPr>
        </p:nvSpPr>
        <p:spPr>
          <a:xfrm>
            <a:off x="6367054" y="4522803"/>
            <a:ext cx="2129245" cy="5421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it-IT"/>
              <a:t>05. Sprint retrospective</a:t>
            </a:r>
            <a:endParaRPr/>
          </a:p>
        </p:txBody>
      </p:sp>
      <p:sp>
        <p:nvSpPr>
          <p:cNvPr id="228" name="Google Shape;228;p2"/>
          <p:cNvSpPr txBox="1"/>
          <p:nvPr>
            <p:ph idx="9" type="body"/>
          </p:nvPr>
        </p:nvSpPr>
        <p:spPr>
          <a:xfrm>
            <a:off x="6367054" y="5131298"/>
            <a:ext cx="2129245" cy="7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it-IT"/>
              <a:t>Presentazione sintetica della sprint retrospective</a:t>
            </a:r>
            <a:endParaRPr/>
          </a:p>
        </p:txBody>
      </p:sp>
      <p:sp>
        <p:nvSpPr>
          <p:cNvPr id="229" name="Google Shape;229;p2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0" name="Google Shape;230;p2"/>
          <p:cNvSpPr txBox="1"/>
          <p:nvPr>
            <p:ph idx="11" type="ftr"/>
          </p:nvPr>
        </p:nvSpPr>
        <p:spPr>
          <a:xfrm>
            <a:off x="1302589" y="6332220"/>
            <a:ext cx="1689531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Presentazione prima sprint</a:t>
            </a:r>
            <a:endParaRPr/>
          </a:p>
        </p:txBody>
      </p:sp>
      <p:sp>
        <p:nvSpPr>
          <p:cNvPr id="231" name="Google Shape;231;p2"/>
          <p:cNvSpPr txBox="1"/>
          <p:nvPr>
            <p:ph idx="10" type="dt"/>
          </p:nvPr>
        </p:nvSpPr>
        <p:spPr>
          <a:xfrm>
            <a:off x="308610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27 novembre 2023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0" y="403861"/>
            <a:ext cx="6096000" cy="592835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Prima Release</a:t>
            </a:r>
            <a:endParaRPr/>
          </a:p>
        </p:txBody>
      </p:sp>
      <p:sp>
        <p:nvSpPr>
          <p:cNvPr id="239" name="Google Shape;239;p3"/>
          <p:cNvSpPr txBox="1"/>
          <p:nvPr>
            <p:ph idx="1" type="body"/>
          </p:nvPr>
        </p:nvSpPr>
        <p:spPr>
          <a:xfrm>
            <a:off x="952499" y="2289363"/>
            <a:ext cx="4715056" cy="279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it-IT"/>
              <a:t>Con la prima release l’applicazione permette di: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Creare una nuova regola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Impostare un orario come condizione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Impostare un file audio da far partire come azione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Impostare un messaggio da mostrare come azione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/>
              <a:t>Eliminare, disattivare e attivare le regole già create</a:t>
            </a:r>
            <a:endParaRPr/>
          </a:p>
        </p:txBody>
      </p:sp>
      <p:sp>
        <p:nvSpPr>
          <p:cNvPr id="240" name="Google Shape;240;p3"/>
          <p:cNvSpPr txBox="1"/>
          <p:nvPr>
            <p:ph idx="10" type="dt"/>
          </p:nvPr>
        </p:nvSpPr>
        <p:spPr>
          <a:xfrm>
            <a:off x="3043555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27 novembre 2023</a:t>
            </a:r>
            <a:endParaRPr/>
          </a:p>
        </p:txBody>
      </p:sp>
      <p:sp>
        <p:nvSpPr>
          <p:cNvPr id="241" name="Google Shape;241;p3"/>
          <p:cNvSpPr txBox="1"/>
          <p:nvPr>
            <p:ph idx="11" type="ftr"/>
          </p:nvPr>
        </p:nvSpPr>
        <p:spPr>
          <a:xfrm>
            <a:off x="1276350" y="6332220"/>
            <a:ext cx="171577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Presentazione prima sprint</a:t>
            </a:r>
            <a:endParaRPr/>
          </a:p>
        </p:txBody>
      </p:sp>
      <p:sp>
        <p:nvSpPr>
          <p:cNvPr id="242" name="Google Shape;242;p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"/>
          <p:cNvSpPr/>
          <p:nvPr/>
        </p:nvSpPr>
        <p:spPr>
          <a:xfrm>
            <a:off x="646981" y="1091529"/>
            <a:ext cx="1199072" cy="114731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9" name="Google Shape;249;p4"/>
          <p:cNvSpPr txBox="1"/>
          <p:nvPr/>
        </p:nvSpPr>
        <p:spPr>
          <a:xfrm>
            <a:off x="463691" y="380815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"/>
              <a:buNone/>
            </a:pPr>
            <a:r>
              <a:rPr b="1" i="0" lang="it-IT" sz="4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Sprint Backlog</a:t>
            </a:r>
            <a:endParaRPr/>
          </a:p>
        </p:txBody>
      </p:sp>
      <p:pic>
        <p:nvPicPr>
          <p:cNvPr id="250" name="Google Shape;250;p4"/>
          <p:cNvPicPr preferRelativeResize="0"/>
          <p:nvPr/>
        </p:nvPicPr>
        <p:blipFill rotWithShape="1">
          <a:blip r:embed="rId3">
            <a:alphaModFix/>
          </a:blip>
          <a:srcRect b="0" l="0" r="0" t="320"/>
          <a:stretch/>
        </p:blipFill>
        <p:spPr>
          <a:xfrm>
            <a:off x="463691" y="1349776"/>
            <a:ext cx="4178338" cy="349341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"/>
          <p:cNvSpPr txBox="1"/>
          <p:nvPr/>
        </p:nvSpPr>
        <p:spPr>
          <a:xfrm>
            <a:off x="6682903" y="3429000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"/>
              <a:buNone/>
            </a:pPr>
            <a:r>
              <a:rPr b="1" i="0" lang="it-IT" sz="4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Product Backlog</a:t>
            </a:r>
            <a:endParaRPr/>
          </a:p>
        </p:txBody>
      </p:sp>
      <p:sp>
        <p:nvSpPr>
          <p:cNvPr id="252" name="Google Shape;252;p4"/>
          <p:cNvSpPr txBox="1"/>
          <p:nvPr/>
        </p:nvSpPr>
        <p:spPr>
          <a:xfrm>
            <a:off x="6682903" y="4201483"/>
            <a:ext cx="508001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Non sono stati trovati nuovi task da completare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 technical debts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3" name="Google Shape;253;p4"/>
          <p:cNvSpPr txBox="1"/>
          <p:nvPr/>
        </p:nvSpPr>
        <p:spPr>
          <a:xfrm>
            <a:off x="971550" y="6288658"/>
            <a:ext cx="547014" cy="2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05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105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4" name="Google Shape;254;p4"/>
          <p:cNvSpPr txBox="1"/>
          <p:nvPr/>
        </p:nvSpPr>
        <p:spPr>
          <a:xfrm>
            <a:off x="1293962" y="6288658"/>
            <a:ext cx="1775316" cy="2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Presentazione prima sprint</a:t>
            </a:r>
            <a:endParaRPr/>
          </a:p>
        </p:txBody>
      </p:sp>
      <p:sp>
        <p:nvSpPr>
          <p:cNvPr id="255" name="Google Shape;255;p4"/>
          <p:cNvSpPr txBox="1"/>
          <p:nvPr/>
        </p:nvSpPr>
        <p:spPr>
          <a:xfrm>
            <a:off x="3052505" y="6288658"/>
            <a:ext cx="1372846" cy="291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27 novembre 2023</a:t>
            </a:r>
            <a:endParaRPr b="0" i="0" sz="11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"/>
          <p:cNvSpPr txBox="1"/>
          <p:nvPr>
            <p:ph type="title"/>
          </p:nvPr>
        </p:nvSpPr>
        <p:spPr>
          <a:xfrm>
            <a:off x="964023" y="879063"/>
            <a:ext cx="9062572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Burn down chart </a:t>
            </a:r>
            <a:endParaRPr/>
          </a:p>
        </p:txBody>
      </p:sp>
      <p:sp>
        <p:nvSpPr>
          <p:cNvPr id="262" name="Google Shape;262;p5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3" name="Google Shape;263;p5"/>
          <p:cNvSpPr txBox="1"/>
          <p:nvPr>
            <p:ph idx="11" type="ftr"/>
          </p:nvPr>
        </p:nvSpPr>
        <p:spPr>
          <a:xfrm>
            <a:off x="1293962" y="6332220"/>
            <a:ext cx="1698158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Presentazione prima sprint</a:t>
            </a:r>
            <a:endParaRPr/>
          </a:p>
        </p:txBody>
      </p:sp>
      <p:sp>
        <p:nvSpPr>
          <p:cNvPr id="264" name="Google Shape;264;p5"/>
          <p:cNvSpPr txBox="1"/>
          <p:nvPr>
            <p:ph idx="10" type="dt"/>
          </p:nvPr>
        </p:nvSpPr>
        <p:spPr>
          <a:xfrm>
            <a:off x="3052505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27 novembre 2023</a:t>
            </a:r>
            <a:endParaRPr/>
          </a:p>
        </p:txBody>
      </p:sp>
      <p:pic>
        <p:nvPicPr>
          <p:cNvPr id="265" name="Google Shape;265;p5"/>
          <p:cNvPicPr preferRelativeResize="0"/>
          <p:nvPr/>
        </p:nvPicPr>
        <p:blipFill rotWithShape="1">
          <a:blip r:embed="rId3">
            <a:alphaModFix/>
          </a:blip>
          <a:srcRect b="0" l="0" r="0" t="7967"/>
          <a:stretch/>
        </p:blipFill>
        <p:spPr>
          <a:xfrm>
            <a:off x="2675515" y="2234242"/>
            <a:ext cx="6750812" cy="365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it-IT"/>
              <a:t>Sprint</a:t>
            </a:r>
            <a:br>
              <a:rPr lang="it-IT"/>
            </a:br>
            <a:r>
              <a:rPr lang="it-IT"/>
              <a:t>retrospective</a:t>
            </a:r>
            <a:endParaRPr/>
          </a:p>
        </p:txBody>
      </p:sp>
      <p:sp>
        <p:nvSpPr>
          <p:cNvPr id="272" name="Google Shape;272;p6"/>
          <p:cNvSpPr txBox="1"/>
          <p:nvPr>
            <p:ph idx="10" type="dt"/>
          </p:nvPr>
        </p:nvSpPr>
        <p:spPr>
          <a:xfrm>
            <a:off x="3043555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27 novembre 2023</a:t>
            </a:r>
            <a:endParaRPr/>
          </a:p>
        </p:txBody>
      </p:sp>
      <p:sp>
        <p:nvSpPr>
          <p:cNvPr id="273" name="Google Shape;273;p6"/>
          <p:cNvSpPr txBox="1"/>
          <p:nvPr>
            <p:ph idx="11" type="ftr"/>
          </p:nvPr>
        </p:nvSpPr>
        <p:spPr>
          <a:xfrm>
            <a:off x="1276350" y="6332220"/>
            <a:ext cx="171577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Presentazione prima sprint</a:t>
            </a:r>
            <a:endParaRPr/>
          </a:p>
        </p:txBody>
      </p:sp>
      <p:sp>
        <p:nvSpPr>
          <p:cNvPr id="274" name="Google Shape;274;p6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descr="Starfish Retrospective PowerPoint Template - SlideModel" id="275" name="Google Shape;2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3555" y="1404262"/>
            <a:ext cx="8626989" cy="485268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276" name="Google Shape;276;p6"/>
          <p:cNvSpPr/>
          <p:nvPr/>
        </p:nvSpPr>
        <p:spPr>
          <a:xfrm rot="1232473">
            <a:off x="4165594" y="1710224"/>
            <a:ext cx="2810821" cy="126588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5779698" y="698740"/>
            <a:ext cx="1535502" cy="20444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7565366" y="1595887"/>
            <a:ext cx="2777706" cy="1716656"/>
          </a:xfrm>
          <a:custGeom>
            <a:rect b="b" l="l" r="r" t="t"/>
            <a:pathLst>
              <a:path extrusionOk="0" h="1716656" w="2777706">
                <a:moveTo>
                  <a:pt x="0" y="25879"/>
                </a:moveTo>
                <a:lnTo>
                  <a:pt x="17253" y="1164566"/>
                </a:lnTo>
                <a:lnTo>
                  <a:pt x="992038" y="1716656"/>
                </a:lnTo>
                <a:lnTo>
                  <a:pt x="1544128" y="1552755"/>
                </a:lnTo>
                <a:lnTo>
                  <a:pt x="2769079" y="1000664"/>
                </a:lnTo>
                <a:cubicBezTo>
                  <a:pt x="2771955" y="667109"/>
                  <a:pt x="2774830" y="333555"/>
                  <a:pt x="2777706" y="0"/>
                </a:cubicBezTo>
                <a:lnTo>
                  <a:pt x="0" y="25879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4244196" y="3174521"/>
            <a:ext cx="2337759" cy="2613804"/>
          </a:xfrm>
          <a:custGeom>
            <a:rect b="b" l="l" r="r" t="t"/>
            <a:pathLst>
              <a:path extrusionOk="0" h="2613804" w="2337759">
                <a:moveTo>
                  <a:pt x="8627" y="232913"/>
                </a:moveTo>
                <a:lnTo>
                  <a:pt x="138023" y="0"/>
                </a:lnTo>
                <a:lnTo>
                  <a:pt x="2294627" y="500332"/>
                </a:lnTo>
                <a:lnTo>
                  <a:pt x="2337759" y="1578634"/>
                </a:lnTo>
                <a:lnTo>
                  <a:pt x="1371600" y="2613804"/>
                </a:lnTo>
                <a:lnTo>
                  <a:pt x="0" y="1664898"/>
                </a:lnTo>
                <a:cubicBezTo>
                  <a:pt x="2876" y="1187570"/>
                  <a:pt x="5751" y="710241"/>
                  <a:pt x="8627" y="232913"/>
                </a:cubicBez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6007100" y="4997450"/>
            <a:ext cx="2235200" cy="1155700"/>
          </a:xfrm>
          <a:custGeom>
            <a:rect b="b" l="l" r="r" t="t"/>
            <a:pathLst>
              <a:path extrusionOk="0" h="1155700" w="2235200">
                <a:moveTo>
                  <a:pt x="0" y="762000"/>
                </a:moveTo>
                <a:lnTo>
                  <a:pt x="590550" y="0"/>
                </a:lnTo>
                <a:lnTo>
                  <a:pt x="2203450" y="25400"/>
                </a:lnTo>
                <a:lnTo>
                  <a:pt x="2235200" y="1155700"/>
                </a:lnTo>
                <a:lnTo>
                  <a:pt x="76200" y="908050"/>
                </a:ln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8382000" y="3200400"/>
            <a:ext cx="2457450" cy="2330450"/>
          </a:xfrm>
          <a:custGeom>
            <a:rect b="b" l="l" r="r" t="t"/>
            <a:pathLst>
              <a:path extrusionOk="0" h="2330450" w="2457450">
                <a:moveTo>
                  <a:pt x="2330450" y="2330450"/>
                </a:moveTo>
                <a:lnTo>
                  <a:pt x="330200" y="2101850"/>
                </a:lnTo>
                <a:lnTo>
                  <a:pt x="0" y="1606550"/>
                </a:lnTo>
                <a:lnTo>
                  <a:pt x="330200" y="196850"/>
                </a:lnTo>
                <a:lnTo>
                  <a:pt x="1600200" y="0"/>
                </a:lnTo>
                <a:lnTo>
                  <a:pt x="2457450" y="1631950"/>
                </a:lnTo>
                <a:lnTo>
                  <a:pt x="2330450" y="233045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8496300" y="3688080"/>
            <a:ext cx="26441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Sottostimare task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Assegnare task che lavorano sugli stessi file a persone diverse</a:t>
            </a:r>
            <a:endParaRPr/>
          </a:p>
        </p:txBody>
      </p:sp>
      <p:sp>
        <p:nvSpPr>
          <p:cNvPr id="283" name="Google Shape;283;p6"/>
          <p:cNvSpPr txBox="1"/>
          <p:nvPr/>
        </p:nvSpPr>
        <p:spPr>
          <a:xfrm>
            <a:off x="4944086" y="2164662"/>
            <a:ext cx="20040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Distrazioni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Lavoro isolato</a:t>
            </a:r>
            <a:endParaRPr/>
          </a:p>
        </p:txBody>
      </p:sp>
      <p:sp>
        <p:nvSpPr>
          <p:cNvPr id="284" name="Google Shape;284;p6"/>
          <p:cNvSpPr txBox="1"/>
          <p:nvPr/>
        </p:nvSpPr>
        <p:spPr>
          <a:xfrm>
            <a:off x="6492240" y="4997450"/>
            <a:ext cx="21692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Utilizzo corretto di GIT e Trello</a:t>
            </a:r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7555288" y="2257524"/>
            <a:ext cx="26013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Definizione migliore dei task</a:t>
            </a:r>
            <a:endParaRPr/>
          </a:p>
        </p:txBody>
      </p:sp>
      <p:sp>
        <p:nvSpPr>
          <p:cNvPr id="286" name="Google Shape;286;p6"/>
          <p:cNvSpPr txBox="1"/>
          <p:nvPr/>
        </p:nvSpPr>
        <p:spPr>
          <a:xfrm>
            <a:off x="4377689" y="3681950"/>
            <a:ext cx="241559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Migliorare la comunicazione dei daily meeting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 txBox="1"/>
          <p:nvPr>
            <p:ph idx="1" type="body"/>
          </p:nvPr>
        </p:nvSpPr>
        <p:spPr>
          <a:xfrm>
            <a:off x="1112520" y="1996117"/>
            <a:ext cx="4914900" cy="30635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Tutte le user story programmate per la sprint sono state portate a termine.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Velocità stimata: 21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Velocità effettiva: 21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No particolari problemi durante lo sviluppo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Necessario miglioramento UI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it-IT">
                <a:solidFill>
                  <a:schemeClr val="dk1"/>
                </a:solidFill>
              </a:rPr>
              <a:t>Product Backlog migliorabile dal punto di vista della chiarezza</a:t>
            </a:r>
            <a:endParaRPr/>
          </a:p>
          <a:p>
            <a:pPr indent="-1841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2" name="Google Shape;292;p7"/>
          <p:cNvSpPr txBox="1"/>
          <p:nvPr>
            <p:ph idx="2" type="subTitle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 txBox="1"/>
          <p:nvPr>
            <p:ph type="title"/>
          </p:nvPr>
        </p:nvSpPr>
        <p:spPr>
          <a:xfrm>
            <a:off x="6896100" y="1949371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it-IT"/>
              <a:t>Sprint review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3043555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sng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27 novembre 2023</a:t>
            </a:r>
            <a:endParaRPr b="0" i="0" sz="1800" u="sng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5" name="Google Shape;295;p7"/>
          <p:cNvSpPr txBox="1"/>
          <p:nvPr/>
        </p:nvSpPr>
        <p:spPr>
          <a:xfrm>
            <a:off x="1276350" y="6332220"/>
            <a:ext cx="171577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Presentazione prima sprint</a:t>
            </a:r>
            <a:endParaRPr/>
          </a:p>
        </p:txBody>
      </p:sp>
      <p:sp>
        <p:nvSpPr>
          <p:cNvPr id="296" name="Google Shape;296;p7"/>
          <p:cNvSpPr txBox="1"/>
          <p:nvPr/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zata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2023-11-26T10:05:27Z</dcterms:created>
  <dc:creator>SIMONE PACIFICO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